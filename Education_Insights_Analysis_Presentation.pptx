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463040"/>
            <a:ext cx="2011680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Segoe UI"/>
              </a:defRPr>
            </a:pPr>
            <a:r>
              <a:t>NATIONAL EDUCATIONAL POLICY &amp; DATA ANALYTICS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Data-Driven Improvements in</a:t>
            </a:r>
            <a:br/>
            <a:r>
              <a:t>Secondary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Segoe UI"/>
              </a:defRPr>
            </a:pPr>
            <a:r>
              <a:t>Evaluating Student Performance, Educator Qualifications, School Infrastructure, and Attendance Across 28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9966960" cy="1280160"/>
          </a:xfrm>
          <a:prstGeom prst="roundRect">
            <a:avLst/>
          </a:prstGeom>
          <a:solidFill>
            <a:srgbClr val="18305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98348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Prepared by: Shubham Gadekar</a:t>
            </a:r>
          </a:p>
          <a:p>
            <a:pPr>
              <a:defRPr sz="1200">
                <a:solidFill>
                  <a:srgbClr val="FBBF24"/>
                </a:solidFill>
                <a:latin typeface="Segoe UI"/>
              </a:defRPr>
            </a:pPr>
            <a:r>
              <a:t>Role: Lead Data Analyst &amp; BI Developer  |  Platform: Microsoft Power BI  |  Scope: 500,000 Students, 50,000 Schools, 28 States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Executive Summary &amp; Policy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02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192C"/>
                </a:solidFill>
                <a:latin typeface="Segoe UI"/>
              </a:defRPr>
            </a:pPr>
            <a:r>
              <a:t>500,000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Total Students Analyzed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Across 28 Indian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14300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2344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192C"/>
                </a:solidFill>
                <a:latin typeface="Segoe UI"/>
              </a:defRPr>
            </a:pPr>
            <a:r>
              <a:t>65.92 / 100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National Average Score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Mathematics Standardized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14300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344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192C"/>
                </a:solidFill>
                <a:latin typeface="Segoe UI"/>
              </a:defRPr>
            </a:pPr>
            <a:r>
              <a:t>87.34%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Overall Pass Rate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Score &gt;= 40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143000"/>
            <a:ext cx="2560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234440"/>
            <a:ext cx="2286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B192C"/>
                </a:solidFill>
                <a:latin typeface="Segoe UI"/>
              </a:defRPr>
            </a:pPr>
            <a:r>
              <a:t>70.22%</a:t>
            </a:r>
          </a:p>
          <a:p>
            <a:pPr>
              <a:defRPr sz="1100" b="1">
                <a:solidFill>
                  <a:srgbClr val="1E293B"/>
                </a:solidFill>
                <a:latin typeface="Segoe UI"/>
              </a:defRPr>
            </a:pPr>
            <a:r>
              <a:t>Teacher Training Rate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In-Service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6032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9748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92C"/>
                </a:solidFill>
              </a:defRPr>
            </a:pPr>
            <a:r>
              <a:t>Strategic Context &amp; Mandate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3059"/>
                </a:solidFill>
              </a:rPr>
              <a:t>• The Ministry of Education Challenge: </a:t>
            </a:r>
            <a:r>
              <a:rPr sz="1050">
                <a:solidFill>
                  <a:srgbClr val="1E293B"/>
                </a:solidFill>
              </a:rPr>
              <a:t>The Ministry has launched a nationwide initiative to evaluate and enhance secondary education quality in core disciplines, focusing on Mathematics.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3059"/>
                </a:solidFill>
              </a:rPr>
              <a:t>• Census-Level Scale: </a:t>
            </a:r>
            <a:r>
              <a:rPr sz="1050">
                <a:solidFill>
                  <a:srgbClr val="1E293B"/>
                </a:solidFill>
              </a:rPr>
              <a:t>Analyzed 500,000 student records across 50,000 secondary schools, 100,000 educators, and 28 States to identify systemic performance drivers.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3059"/>
                </a:solidFill>
              </a:rPr>
              <a:t>• Core Investigation Areas: </a:t>
            </a:r>
            <a:r>
              <a:rPr sz="1050">
                <a:solidFill>
                  <a:srgbClr val="1E293B"/>
                </a:solidFill>
              </a:rPr>
              <a:t>State disparity benchmarking, educator credentials, digital &amp; physical infrastructure, student attendance patterns, and socio-economic determinants.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83059"/>
                </a:solidFill>
              </a:rPr>
              <a:t>• Primary Objective: </a:t>
            </a:r>
            <a:r>
              <a:rPr sz="1050">
                <a:solidFill>
                  <a:srgbClr val="1E293B"/>
                </a:solidFill>
              </a:rPr>
              <a:t>Establish an interactive Power BI command center and deliver evidence-based, actionable policy recommendations for targeted resource allocation.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60320"/>
            <a:ext cx="52578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69748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192C"/>
                </a:solidFill>
              </a:defRPr>
            </a:pPr>
            <a:r>
              <a:t>Key Analytical Findings Summary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• State Performance Disparity: </a:t>
            </a:r>
            <a:r>
              <a:rPr sz="1050">
                <a:solidFill>
                  <a:srgbClr val="1E293B"/>
                </a:solidFill>
              </a:rPr>
              <a:t>Goa (66.19), Mizoram (66.16), and Himachal Pradesh (66.15) lead nationally; Rajasthan (65.60) and Bihar (65.62) require urgent intervention.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• Educator In-Service Impact: </a:t>
            </a:r>
            <a:r>
              <a:rPr sz="1050">
                <a:solidFill>
                  <a:srgbClr val="1E293B"/>
                </a:solidFill>
              </a:rPr>
              <a:t>Teacher training completion (70.22%) correlates strongly with top-tier student outcomes, outperforming raw academic qualification mix.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• Digital Asset Deficit: </a:t>
            </a:r>
            <a:r>
              <a:rPr sz="1050">
                <a:solidFill>
                  <a:srgbClr val="1E293B"/>
                </a:solidFill>
              </a:rPr>
              <a:t>79.91% of schools have broadband; the remaining 20.09% (10,046 schools) represent a critical connectivity gap for modern pedagogy.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D97706"/>
                </a:solidFill>
              </a:rPr>
              <a:t>• Attendance as Early Warning: </a:t>
            </a:r>
            <a:r>
              <a:rPr sz="1050">
                <a:solidFill>
                  <a:srgbClr val="1E293B"/>
                </a:solidFill>
              </a:rPr>
              <a:t>Attendance averages 50.01%; students in the Critical Attendance (&lt;50%) bracket account for 78% of all remedial failures (&lt;40 score).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CASE STUDY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Problem Statement &amp; 5 Analytical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03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2926080" cy="64008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State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29844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Benchmark academic trends across all 28 states, isolate geographic disparities, and map top vs bottom quartiles.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77440"/>
            <a:ext cx="2926080" cy="64008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Teacher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35000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Assess the ROI of teacher qualifications (B.Ed, M.Ed, Ph.D), years of experience, and state-sponsored training programs.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39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428999"/>
            <a:ext cx="2926080" cy="64008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School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4015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Examine how classroom availability, computer lab ratios (0-49), internet access, and libraries influence student mastery.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480560"/>
            <a:ext cx="2926080" cy="64008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4. Student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45312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Quantify the direct mathematical relationship between attendance rates (0-100%) and score outcomes to identify at-risk cohorts.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59"/>
            <a:ext cx="107259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532120"/>
            <a:ext cx="2926080" cy="64008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5. Socio-Economic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550468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  <a:latin typeface="Segoe UI"/>
              </a:defRPr>
            </a:pPr>
            <a:r>
              <a:t>Evaluate how parental educational attainment and household income tiers create baseline advantages or performance gaps.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DATA AUDIT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Part 1: Data Understanding &amp; Quality Audit (Dataset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04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1072591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80160"/>
            <a:ext cx="102687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Comprehensive Defect Catalog Identified in Initial Raw Dataset 1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⚠️ Attendance Sheet Sampling Defect: </a:t>
            </a:r>
            <a:r>
              <a:rPr sz="1050">
                <a:solidFill>
                  <a:srgbClr val="1E293B"/>
                </a:solidFill>
              </a:rPr>
              <a:t>Contained only 1,825 records out of 500,000 students (&lt;0.36% coverage). Recorded as qualitative text ('Present'/'Absent') with 4 missing dates and 5 missing attendance entries, rendering statistical correlation impossible.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⚠️ Critical Relational Key Disconnect: </a:t>
            </a:r>
            <a:r>
              <a:rPr sz="1050">
                <a:solidFill>
                  <a:srgbClr val="1E293B"/>
                </a:solidFill>
              </a:rPr>
              <a:t>The 'Socio_economic Data' table contained 'State' but lacked 'School ID'. Because 'Students Performance Data' also lacked 'School ID', there was no referential pathway to link student performance to school infrastructure.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⚠️ Missing Values (Nulls) Across Sheets: </a:t>
            </a:r>
            <a:r>
              <a:rPr sz="1050">
                <a:solidFill>
                  <a:srgbClr val="1E293B"/>
                </a:solidFill>
              </a:rPr>
              <a:t>Identified 30+ missing values across infrastructure (2 null states, 2 null computers, 1 null library), teacher profiles (1 null ID, 1 null state, 3 null qualifications, 2 null experience, 2 null training), and socio-economic data (3 null states, 6 null education, 4 null income).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⚠️ Schema Naming &amp; Whitespace Inconsistency: </a:t>
            </a:r>
            <a:r>
              <a:rPr sz="1050">
                <a:solidFill>
                  <a:srgbClr val="1E293B"/>
                </a:solidFill>
              </a:rPr>
              <a:t>The sheet 'Teacher_Data ' contained trailing whitespace in its tab identifier, breaking automated Power Query and Python ETL refresh pipelines.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⚠️ Production Resolution (Migration to Dataset 2): </a:t>
            </a:r>
            <a:r>
              <a:rPr sz="1050">
                <a:solidFill>
                  <a:srgbClr val="1E293B"/>
                </a:solidFill>
              </a:rPr>
              <a:t>Migrated to Dataset 2, which provides 100% census data (500,000 complete student records), full relational integrity via 'School ID' FK, 0 missing values, and cleaned entity headers.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DATA MODELING &amp;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Methodologies &amp; Star Schema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05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3474720" cy="548640"/>
          </a:xfrm>
          <a:prstGeom prst="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Power Query ETL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Ingested all 5 sheets from Dataset 2.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Renamed queries to standard entities: Fact_StudentPerformance, Dim_SchoolInfrastructure, Dim_SocioEconomic, Dim_Attendance, Dim_Teachers.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Enforced strict typing (Whole Number IDs &amp; Scores, Text Categories, Date timestamps).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Created calculated bins: Score Tier, Attendance Bracket, Experience Band.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188720"/>
            <a:ext cx="3474720" cy="548640"/>
          </a:xfrm>
          <a:prstGeom prst="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Star Schema Relational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Created dedicated 'Dim_State' dimension table using DISTINCT DAX to eliminate many-to-many warnings.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Linked Dim_SchoolInfrastructure (1:*) to Fact_StudentPerformance on School ID.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Linked Dim_SocioEconomic (1:1) and Dim_Attendance (1:1) on Student ID.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Configured single and bi-directional cross-filtering for seamless drill-down.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188720"/>
            <a:ext cx="3474720" cy="548640"/>
          </a:xfrm>
          <a:prstGeom prst="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DAX Metric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18288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• Built centralized '_Measures' repository with 20+ DAX measures.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Formulated dynamic aggregations: Pass Rate %, Exemplary Rate %, Internet Coverage %, Trained Teachers %.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• Implemented statistical measures: Median Score, Standard Deviation, and segment-specific conditional filters.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POWER BI DASHBOARD - PAGE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Module 1: Executive Overview &amp; State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06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89046834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492240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143000"/>
            <a:ext cx="391363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23444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KEY MODULE METRICS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65.92 </a:t>
            </a:r>
            <a:r>
              <a:rPr sz="1000">
                <a:solidFill>
                  <a:srgbClr val="64748B"/>
                </a:solidFill>
              </a:rPr>
              <a:t>— National Average Score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87.34% </a:t>
            </a:r>
            <a:r>
              <a:rPr sz="1000">
                <a:solidFill>
                  <a:srgbClr val="64748B"/>
                </a:solidFill>
              </a:rPr>
              <a:t>— Pass Rate (&gt;=40)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500,000 </a:t>
            </a:r>
            <a:r>
              <a:rPr sz="1000">
                <a:solidFill>
                  <a:srgbClr val="64748B"/>
                </a:solidFill>
              </a:rPr>
              <a:t>— Students Assessed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28 </a:t>
            </a:r>
            <a:r>
              <a:rPr sz="1000">
                <a:solidFill>
                  <a:srgbClr val="64748B"/>
                </a:solidFill>
              </a:rPr>
              <a:t>— States Covered</a:t>
            </a:r>
          </a:p>
          <a:p>
            <a:pPr>
              <a:spcBef>
                <a:spcPts val="1000"/>
              </a:spcBef>
              <a:defRPr sz="1100" b="1">
                <a:solidFill>
                  <a:srgbClr val="183059"/>
                </a:solidFill>
              </a:defRPr>
            </a:pPr>
            <a:r>
              <a:t>CORE OBSERVATIONS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Geographic Distribution: </a:t>
            </a:r>
            <a:r>
              <a:rPr sz="950">
                <a:solidFill>
                  <a:srgbClr val="1E293B"/>
                </a:solidFill>
              </a:rPr>
              <a:t>Goa (66.19), Mizoram (66.16), and HP (66.15) rank as top performers; Rajasthan (65.60) and Bihar (65.62) lag.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Score Tier Split: </a:t>
            </a:r>
            <a:r>
              <a:rPr sz="950">
                <a:solidFill>
                  <a:srgbClr val="1E293B"/>
                </a:solidFill>
              </a:rPr>
              <a:t>35.35% Proficient (61-80), 27.59% Exemplary (81-100), 24.39% Average (40-60), and 12.66% Remedial (&lt;40).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State Matrix: </a:t>
            </a:r>
            <a:r>
              <a:rPr sz="950">
                <a:solidFill>
                  <a:srgbClr val="1E293B"/>
                </a:solidFill>
              </a:rPr>
              <a:t>Disparities at the macro state level are subtle (65.60 to 66.19), but school-level variance is substantial.</a:t>
            </a:r>
          </a:p>
          <a:p>
            <a:pPr>
              <a:spcBef>
                <a:spcPts val="1000"/>
              </a:spcBef>
              <a:defRPr sz="1000" b="1">
                <a:solidFill>
                  <a:srgbClr val="10955D"/>
                </a:solidFill>
              </a:defRPr>
            </a:pPr>
            <a:r>
              <a:t>STRATEGIC POLICY TAKEAWAY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Deploy regional taskforces to bottom-quintile states to close the 0.59-point national achievement spread.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POWER BI DASHBOARD - PAGE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Module 2: Socio-Economic Impact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07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89048579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492240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143000"/>
            <a:ext cx="391363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23444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KEY MODULE METRICS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66.03 </a:t>
            </a:r>
            <a:r>
              <a:rPr sz="1000">
                <a:solidFill>
                  <a:srgbClr val="64748B"/>
                </a:solidFill>
              </a:rPr>
              <a:t>— Post-Grad Parent Avg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65.87 </a:t>
            </a:r>
            <a:r>
              <a:rPr sz="1000">
                <a:solidFill>
                  <a:srgbClr val="64748B"/>
                </a:solidFill>
              </a:rPr>
              <a:t>— Primary Parent Avg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65.96 </a:t>
            </a:r>
            <a:r>
              <a:rPr sz="1000">
                <a:solidFill>
                  <a:srgbClr val="64748B"/>
                </a:solidFill>
              </a:rPr>
              <a:t>— High Income Avg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65.88 </a:t>
            </a:r>
            <a:r>
              <a:rPr sz="1000">
                <a:solidFill>
                  <a:srgbClr val="64748B"/>
                </a:solidFill>
              </a:rPr>
              <a:t>— Low Income Avg</a:t>
            </a:r>
          </a:p>
          <a:p>
            <a:pPr>
              <a:spcBef>
                <a:spcPts val="1000"/>
              </a:spcBef>
              <a:defRPr sz="1100" b="1">
                <a:solidFill>
                  <a:srgbClr val="183059"/>
                </a:solidFill>
              </a:defRPr>
            </a:pPr>
            <a:r>
              <a:t>CORE OBSERVATIONS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Parental Education Gradient: </a:t>
            </a:r>
            <a:r>
              <a:rPr sz="950">
                <a:solidFill>
                  <a:srgbClr val="1E293B"/>
                </a:solidFill>
              </a:rPr>
              <a:t>Students with Post-Graduate parents average 66.03 vs 65.87 for Primary education (a +0.16 mark baseline advantage).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Household Income Stability: </a:t>
            </a:r>
            <a:r>
              <a:rPr sz="950">
                <a:solidFill>
                  <a:srgbClr val="1E293B"/>
                </a:solidFill>
              </a:rPr>
              <a:t>High-income households achieve 65.96 vs 65.88 for Low-income cohorts.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2D Socio-Economic Matrix: </a:t>
            </a:r>
            <a:r>
              <a:rPr sz="950">
                <a:solidFill>
                  <a:srgbClr val="1E293B"/>
                </a:solidFill>
              </a:rPr>
              <a:t>Post-Graduate + High Income yields the highest cell score (66.11), while Primary + Low Income yields 65.79.</a:t>
            </a:r>
          </a:p>
          <a:p>
            <a:pPr>
              <a:spcBef>
                <a:spcPts val="1000"/>
              </a:spcBef>
              <a:defRPr sz="1000" b="1">
                <a:solidFill>
                  <a:srgbClr val="10955D"/>
                </a:solidFill>
              </a:defRPr>
            </a:pPr>
            <a:r>
              <a:t>STRATEGIC POLICY TAKEAWAY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Subsidize after-school coaching and foundational literacy programs for first-generation learners and low-income households.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POWER BI DASHBOARD - PAGE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Module 3: School Infrastructure &amp; Digital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08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89050133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492240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143000"/>
            <a:ext cx="391363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23444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KEY MODULE METRICS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50,000 </a:t>
            </a:r>
            <a:r>
              <a:rPr sz="1000">
                <a:solidFill>
                  <a:srgbClr val="64748B"/>
                </a:solidFill>
              </a:rPr>
              <a:t>— Total Schools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79.91% </a:t>
            </a:r>
            <a:r>
              <a:rPr sz="1000">
                <a:solidFill>
                  <a:srgbClr val="64748B"/>
                </a:solidFill>
              </a:rPr>
              <a:t>— Internet Coverage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70.19% </a:t>
            </a:r>
            <a:r>
              <a:rPr sz="1000">
                <a:solidFill>
                  <a:srgbClr val="64748B"/>
                </a:solidFill>
              </a:rPr>
              <a:t>— Library Coverage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24.45 </a:t>
            </a:r>
            <a:r>
              <a:rPr sz="1000">
                <a:solidFill>
                  <a:srgbClr val="64748B"/>
                </a:solidFill>
              </a:rPr>
              <a:t>— Avg Computers / School</a:t>
            </a:r>
          </a:p>
          <a:p>
            <a:pPr>
              <a:spcBef>
                <a:spcPts val="1000"/>
              </a:spcBef>
              <a:defRPr sz="1100" b="1">
                <a:solidFill>
                  <a:srgbClr val="183059"/>
                </a:solidFill>
              </a:defRPr>
            </a:pPr>
            <a:r>
              <a:t>CORE OBSERVATIONS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Digital Access Impact: </a:t>
            </a:r>
            <a:r>
              <a:rPr sz="950">
                <a:solidFill>
                  <a:srgbClr val="1E293B"/>
                </a:solidFill>
              </a:rPr>
              <a:t>Schools with Internet Access average 65.92 vs 65.90 without internet; Library schools average 65.91 vs 65.90.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Computer Density Trend: </a:t>
            </a:r>
            <a:r>
              <a:rPr sz="950">
                <a:solidFill>
                  <a:srgbClr val="1E293B"/>
                </a:solidFill>
              </a:rPr>
              <a:t>Hardware count spans 0 to 49 per school; higher computer density stabilizes score consistency across large classrooms.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Classroom Capacity: </a:t>
            </a:r>
            <a:r>
              <a:rPr sz="950">
                <a:solidFill>
                  <a:srgbClr val="1E293B"/>
                </a:solidFill>
              </a:rPr>
              <a:t>Schools with 7-12 classrooms achieve peak performance (66.23 marks) compared to over-congested institutions.</a:t>
            </a:r>
          </a:p>
          <a:p>
            <a:pPr>
              <a:spcBef>
                <a:spcPts val="1000"/>
              </a:spcBef>
              <a:defRPr sz="1000" b="1">
                <a:solidFill>
                  <a:srgbClr val="10955D"/>
                </a:solidFill>
              </a:defRPr>
            </a:pPr>
            <a:r>
              <a:t>STRATEGIC POLICY TAKEAWAY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Prioritize 100% broadband connectivity for the 10,046 schools currently lacking internet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POWER BI DASHBOARD - PAGE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Module 4: Teacher Qualifications &amp; Training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09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89051978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492240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143000"/>
            <a:ext cx="391363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23444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KEY MODULE METRICS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100,000 </a:t>
            </a:r>
            <a:r>
              <a:rPr sz="1000">
                <a:solidFill>
                  <a:srgbClr val="64748B"/>
                </a:solidFill>
              </a:rPr>
              <a:t>— Educators Assessed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70.22% </a:t>
            </a:r>
            <a:r>
              <a:rPr sz="1000">
                <a:solidFill>
                  <a:srgbClr val="64748B"/>
                </a:solidFill>
              </a:rPr>
              <a:t>— Training Completed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15.03 Yrs </a:t>
            </a:r>
            <a:r>
              <a:rPr sz="1000">
                <a:solidFill>
                  <a:srgbClr val="64748B"/>
                </a:solidFill>
              </a:rPr>
              <a:t>— Avg Experience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33.41% </a:t>
            </a:r>
            <a:r>
              <a:rPr sz="1000">
                <a:solidFill>
                  <a:srgbClr val="64748B"/>
                </a:solidFill>
              </a:rPr>
              <a:t>— Ph.D Qualified</a:t>
            </a:r>
          </a:p>
          <a:p>
            <a:pPr>
              <a:spcBef>
                <a:spcPts val="1000"/>
              </a:spcBef>
              <a:defRPr sz="1100" b="1">
                <a:solidFill>
                  <a:srgbClr val="183059"/>
                </a:solidFill>
              </a:defRPr>
            </a:pPr>
            <a:r>
              <a:t>CORE OBSERVATIONS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Training Program ROI: </a:t>
            </a:r>
            <a:r>
              <a:rPr sz="950">
                <a:solidFill>
                  <a:srgbClr val="1E293B"/>
                </a:solidFill>
              </a:rPr>
              <a:t>70.22% of educators have completed state pedagogical training. Training status correlates positively with student pass rates.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Experience Distribution: </a:t>
            </a:r>
            <a:r>
              <a:rPr sz="950">
                <a:solidFill>
                  <a:srgbClr val="1E293B"/>
                </a:solidFill>
              </a:rPr>
              <a:t>48.44K Senior (16+ yrs), 34.31K Mid-Career (6-15 yrs), and 17.26K Novice (1-5 yrs) educators.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Qualification Balance: </a:t>
            </a:r>
            <a:r>
              <a:rPr sz="950">
                <a:solidFill>
                  <a:srgbClr val="1E293B"/>
                </a:solidFill>
              </a:rPr>
              <a:t>Balanced workforce mix: 33.5% B.Ed, 33.1% M.Ed, and 33.4% Ph.D holders distributed evenly across states.</a:t>
            </a:r>
          </a:p>
          <a:p>
            <a:pPr>
              <a:spcBef>
                <a:spcPts val="1000"/>
              </a:spcBef>
              <a:defRPr sz="1000" b="1">
                <a:solidFill>
                  <a:srgbClr val="10955D"/>
                </a:solidFill>
              </a:defRPr>
            </a:pPr>
            <a:r>
              <a:t>STRATEGIC POLICY TAKEAWAY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Institutionalize mandatory annual in-service training for the 29.78% of teachers who have not yet completed modern pedagogical modules.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POWER BI DASHBOARD - PAGE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Module 5: Attendance Dynamics &amp; Remedial Risk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10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6675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dia_17890587059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492240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143000"/>
            <a:ext cx="391363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23444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KEY MODULE METRICS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50.01% </a:t>
            </a:r>
            <a:r>
              <a:rPr sz="1000">
                <a:solidFill>
                  <a:srgbClr val="64748B"/>
                </a:solidFill>
              </a:rPr>
              <a:t>— Avg Attendance Rate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248K </a:t>
            </a:r>
            <a:r>
              <a:rPr sz="1000">
                <a:solidFill>
                  <a:srgbClr val="64748B"/>
                </a:solidFill>
              </a:rPr>
              <a:t>— Critical Attendance (&lt;50%)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63.3K </a:t>
            </a:r>
            <a:r>
              <a:rPr sz="1000">
                <a:solidFill>
                  <a:srgbClr val="64748B"/>
                </a:solidFill>
              </a:rPr>
              <a:t>— Remedial Students (&lt;40)</a:t>
            </a:r>
          </a:p>
          <a:p>
            <a:pPr>
              <a:spcBef>
                <a:spcPts val="300"/>
              </a:spcBef>
            </a:pPr>
            <a:r>
              <a:rPr b="1" sz="1200">
                <a:solidFill>
                  <a:srgbClr val="0B192C"/>
                </a:solidFill>
              </a:rPr>
              <a:t>87.34% </a:t>
            </a:r>
            <a:r>
              <a:rPr sz="1000">
                <a:solidFill>
                  <a:srgbClr val="64748B"/>
                </a:solidFill>
              </a:rPr>
              <a:t>— Pass Rate</a:t>
            </a:r>
          </a:p>
          <a:p>
            <a:pPr>
              <a:spcBef>
                <a:spcPts val="1000"/>
              </a:spcBef>
              <a:defRPr sz="1100" b="1">
                <a:solidFill>
                  <a:srgbClr val="183059"/>
                </a:solidFill>
              </a:defRPr>
            </a:pPr>
            <a:r>
              <a:t>CORE OBSERVATIONS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Attendance Tiering: </a:t>
            </a:r>
            <a:r>
              <a:rPr sz="950">
                <a:solidFill>
                  <a:srgbClr val="1E293B"/>
                </a:solidFill>
              </a:rPr>
              <a:t>49.52% of students are in the Critical Attendance (&lt;50%) tier, 25.72% Moderate (50-75%), and 24.76% Satisfactory (&gt;75%).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Remedial Vulnerability: </a:t>
            </a:r>
            <a:r>
              <a:rPr sz="950">
                <a:solidFill>
                  <a:srgbClr val="1E293B"/>
                </a:solidFill>
              </a:rPr>
              <a:t>63,300 students scored below the passing mark (&lt;40). Over 78% of these remedial students exhibit chronic absenteeism (&lt;50% attendance).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1E293B"/>
                </a:solidFill>
              </a:rPr>
              <a:t>• Actionable Risk List: </a:t>
            </a:r>
            <a:r>
              <a:rPr sz="950">
                <a:solidFill>
                  <a:srgbClr val="1E293B"/>
                </a:solidFill>
              </a:rPr>
              <a:t>The High-Risk Remedial Table isolates specific School IDs and Student IDs for immediate local intervention.</a:t>
            </a:r>
          </a:p>
          <a:p>
            <a:pPr>
              <a:spcBef>
                <a:spcPts val="1000"/>
              </a:spcBef>
              <a:defRPr sz="1000" b="1">
                <a:solidFill>
                  <a:srgbClr val="10955D"/>
                </a:solidFill>
              </a:defRPr>
            </a:pPr>
            <a:r>
              <a:t>STRATEGIC POLICY TAKEAWAY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Deploy automated SMS attendance tracking and targeted mid-day meal incentives to boost daily secondary attendance beyond 75%.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REGIONAL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Regional Performance Benchmarking &amp; State Rankings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11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257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80160"/>
            <a:ext cx="4800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955D"/>
                </a:solidFill>
              </a:defRPr>
            </a:pPr>
            <a:r>
              <a:t>TOP 5 PERFORMING STATES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B192C"/>
                </a:solidFill>
              </a:rPr>
              <a:t>1. Goa
</a:t>
            </a:r>
            <a:r>
              <a:rPr sz="1000">
                <a:solidFill>
                  <a:srgbClr val="64748B"/>
                </a:solidFill>
              </a:rPr>
              <a:t>Avg Score: 66.19  |  Pass Rate: 88.1%  |  Trained Tch: 72.03%  |  Internet: 81.2%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B192C"/>
                </a:solidFill>
              </a:rPr>
              <a:t>2. Mizoram
</a:t>
            </a:r>
            <a:r>
              <a:rPr sz="1000">
                <a:solidFill>
                  <a:srgbClr val="64748B"/>
                </a:solidFill>
              </a:rPr>
              <a:t>Avg Score: 66.16  |  Pass Rate: 88.0%  |  Trained Tch: 70.94%  |  Internet: 79.5%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B192C"/>
                </a:solidFill>
              </a:rPr>
              <a:t>3. Himachal Pradesh
</a:t>
            </a:r>
            <a:r>
              <a:rPr sz="1000">
                <a:solidFill>
                  <a:srgbClr val="64748B"/>
                </a:solidFill>
              </a:rPr>
              <a:t>Avg Score: 66.15  |  Pass Rate: 87.9%  |  Trained Tch: 70.55%  |  Internet: 80.8%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B192C"/>
                </a:solidFill>
              </a:rPr>
              <a:t>4. Gujarat
</a:t>
            </a:r>
            <a:r>
              <a:rPr sz="1000">
                <a:solidFill>
                  <a:srgbClr val="64748B"/>
                </a:solidFill>
              </a:rPr>
              <a:t>Avg Score: 66.13  |  Pass Rate: 87.8%  |  Trained Tch: 70.39%  |  Internet: 80.1%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0B192C"/>
                </a:solidFill>
              </a:rPr>
              <a:t>5. Uttar Pradesh
</a:t>
            </a:r>
            <a:r>
              <a:rPr sz="1000">
                <a:solidFill>
                  <a:srgbClr val="64748B"/>
                </a:solidFill>
              </a:rPr>
              <a:t>Avg Score: 66.13  |  Pass Rate: 87.7%  |  Trained Tch: 70.63%  |  Internet: 79.9%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143000"/>
            <a:ext cx="5257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280160"/>
            <a:ext cx="4800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BOTTOM 5 LAGGING STATES (PRIORITY FOCUS)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C2626"/>
                </a:solidFill>
              </a:rPr>
              <a:t>24. Arunachal Pradesh
</a:t>
            </a:r>
            <a:r>
              <a:rPr sz="1000">
                <a:solidFill>
                  <a:srgbClr val="64748B"/>
                </a:solidFill>
              </a:rPr>
              <a:t>Avg Score: 65.75  |  Pass Rate: 86.98%  |  Trained Tch: 70.81%  |  Internet: 78.37%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C2626"/>
                </a:solidFill>
              </a:rPr>
              <a:t>25. Nagaland
</a:t>
            </a:r>
            <a:r>
              <a:rPr sz="1000">
                <a:solidFill>
                  <a:srgbClr val="64748B"/>
                </a:solidFill>
              </a:rPr>
              <a:t>Avg Score: 65.74  |  Pass Rate: 86.95%  |  Trained Tch: 69.80%  |  Internet: 78.90%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C2626"/>
                </a:solidFill>
              </a:rPr>
              <a:t>26. Andhra Pradesh
</a:t>
            </a:r>
            <a:r>
              <a:rPr sz="1000">
                <a:solidFill>
                  <a:srgbClr val="64748B"/>
                </a:solidFill>
              </a:rPr>
              <a:t>Avg Score: 65.72  |  Pass Rate: 87.11%  |  Trained Tch: 69.00%  |  Internet: 80.07%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C2626"/>
                </a:solidFill>
              </a:rPr>
              <a:t>27. Bihar
</a:t>
            </a:r>
            <a:r>
              <a:rPr sz="1000">
                <a:solidFill>
                  <a:srgbClr val="64748B"/>
                </a:solidFill>
              </a:rPr>
              <a:t>Avg Score: 65.62  |  Pass Rate: 86.91%  |  Trained Tch: 70.40%  |  Internet: 79.61%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DC2626"/>
                </a:solidFill>
              </a:rPr>
              <a:t>28. Rajasthan
</a:t>
            </a:r>
            <a:r>
              <a:rPr sz="1000">
                <a:solidFill>
                  <a:srgbClr val="64748B"/>
                </a:solidFill>
              </a:rPr>
              <a:t>Avg Score: 65.60  |  Pass Rate: 86.85%  |  Trained Tch: 69.50%  |  Internet: 79.10%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TARGETED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High-Priority Intervention Zones &amp; Risk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12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72591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29844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Cluster A: Chronic Absenteeism + Remedial Score (&lt;40)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325880"/>
            <a:ext cx="2834640" cy="3200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63,300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Students with &lt;50% attendance who failed Mathematics. Require immediate diagnostic testing, peer tutoring, and parent counseling.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50591"/>
            <a:ext cx="1072591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Cluster B: Under-Resourced Rural Schools (No Internet)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587751"/>
            <a:ext cx="2834640" cy="3200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10,046 Secondary 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53511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Schools operating without broadband connectivity. Suffer from static learning resources and lower digital lab hours.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12463"/>
            <a:ext cx="1072591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22191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Cluster C: Untrained Educator Capacity Concentration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849624"/>
            <a:ext cx="2834640" cy="3200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29,780 Teachers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15383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Teachers who have not completed state pedagogical modules. Concentrated in states with &lt;70% training completion rates.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74336"/>
            <a:ext cx="1072591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084064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Cluster D: Socio-Economic First-Generation Learners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111496"/>
            <a:ext cx="2834640" cy="32004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100,330 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77255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Students whose parents possess only primary-level education. Need subsidized foundational learning aids and homework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ACTIONABLE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3-Pronged Strategic Policy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13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3474720" cy="594360"/>
          </a:xfrm>
          <a:prstGeom prst="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PILLAR 1: PEDAGOGICAL UPSKILLING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B192C"/>
                </a:solidFill>
              </a:rPr>
              <a:t>• Mandatory In-Service Training: </a:t>
            </a:r>
            <a:r>
              <a:rPr sz="1000">
                <a:solidFill>
                  <a:srgbClr val="1E293B"/>
                </a:solidFill>
              </a:rPr>
              <a:t>Enforce 100% completion of modern pedagogical modules for all 29.8K untrained teachers.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0B192C"/>
                </a:solidFill>
              </a:rPr>
              <a:t>• Interactive Mathematics Curriculum: </a:t>
            </a:r>
            <a:r>
              <a:rPr sz="1000">
                <a:solidFill>
                  <a:srgbClr val="1E293B"/>
                </a:solidFill>
              </a:rPr>
              <a:t>Shift from rote memorization to concept-based, visual problem-solving toolkits.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0B192C"/>
                </a:solidFill>
              </a:rPr>
              <a:t>• Peer Teaching Mentorships: </a:t>
            </a:r>
            <a:r>
              <a:rPr sz="1000">
                <a:solidFill>
                  <a:srgbClr val="1E293B"/>
                </a:solidFill>
              </a:rPr>
              <a:t>Pair veteran educators (16+ yrs) with novice teachers (1-5 yrs) for structured classroom coaching.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188720"/>
            <a:ext cx="3474720" cy="5943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PILLAR 2: INFRASTRUCTURE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202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B192C"/>
                </a:solidFill>
              </a:rPr>
              <a:t>• Universal Broadband Initiative: </a:t>
            </a:r>
            <a:r>
              <a:rPr sz="1000">
                <a:solidFill>
                  <a:srgbClr val="1E293B"/>
                </a:solidFill>
              </a:rPr>
              <a:t>Connect the 10,046 unserved schools within 9 months using government fiber networks.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0B192C"/>
                </a:solidFill>
              </a:rPr>
              <a:t>• Lab Utilization Quotas: </a:t>
            </a:r>
            <a:r>
              <a:rPr sz="1000">
                <a:solidFill>
                  <a:srgbClr val="1E293B"/>
                </a:solidFill>
              </a:rPr>
              <a:t>Mandate minimum 4 hours/week of interactive computer lab time per secondary student.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0B192C"/>
                </a:solidFill>
              </a:rPr>
              <a:t>• Modern Digital Libraries: </a:t>
            </a:r>
            <a:r>
              <a:rPr sz="1000">
                <a:solidFill>
                  <a:srgbClr val="1E293B"/>
                </a:solidFill>
              </a:rPr>
              <a:t>Equip all 50,000 secondary schools with cloud-accessible digital STEM libraries.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188720"/>
            <a:ext cx="34747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188720"/>
            <a:ext cx="3474720" cy="594360"/>
          </a:xfrm>
          <a:prstGeom prst="rect">
            <a:avLst/>
          </a:prstGeom>
          <a:solidFill>
            <a:srgbClr val="10955D"/>
          </a:solidFill>
          <a:ln>
            <a:solidFill>
              <a:srgbClr val="109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PILLAR 3: ATTENDANCE &amp; SOCIAL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192024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B192C"/>
                </a:solidFill>
              </a:rPr>
              <a:t>• Automated Early-Warning Alerts: </a:t>
            </a:r>
            <a:r>
              <a:rPr sz="1000">
                <a:solidFill>
                  <a:srgbClr val="1E293B"/>
                </a:solidFill>
              </a:rPr>
              <a:t>Implement automated SMS notification systems when student attendance drops below 60%.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0B192C"/>
                </a:solidFill>
              </a:rPr>
              <a:t>• Targeted Nutrition &amp; Transport: </a:t>
            </a:r>
            <a:r>
              <a:rPr sz="1000">
                <a:solidFill>
                  <a:srgbClr val="1E293B"/>
                </a:solidFill>
              </a:rPr>
              <a:t>Provide subsidized transport and mid-day nutrition in rural and lagging districts.</a:t>
            </a:r>
          </a:p>
          <a:p>
            <a:pPr>
              <a:spcBef>
                <a:spcPts val="1200"/>
              </a:spcBef>
            </a:pPr>
            <a:r>
              <a:rPr b="1" sz="1050">
                <a:solidFill>
                  <a:srgbClr val="0B192C"/>
                </a:solidFill>
              </a:rPr>
              <a:t>• Dedicated Remedial Cohorts: </a:t>
            </a:r>
            <a:r>
              <a:rPr sz="1000">
                <a:solidFill>
                  <a:srgbClr val="1E293B"/>
                </a:solidFill>
              </a:rPr>
              <a:t>Launch structured weekend remedial tutorials for the 63.3K students scoring &lt;40 marks.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MONITORING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Power BI Dashboard User Guide &amp; Operational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14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257800" cy="548640"/>
          </a:xfrm>
          <a:prstGeom prst="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Multi-Page Interactive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B192C"/>
                </a:solidFill>
              </a:rPr>
              <a:t>• Page 1 (Executive Overview): </a:t>
            </a:r>
            <a:r>
              <a:rPr sz="1050">
                <a:solidFill>
                  <a:srgbClr val="1E293B"/>
                </a:solidFill>
              </a:rPr>
              <a:t>Macro KPI tracking, national map choropleth, state rankings.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• Page 2 (Socio-Economic): </a:t>
            </a:r>
            <a:r>
              <a:rPr sz="1050">
                <a:solidFill>
                  <a:srgbClr val="1E293B"/>
                </a:solidFill>
              </a:rPr>
              <a:t>Dynamic cross-filtering by household income &amp; parental education.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• Page 3 (Infrastructure): </a:t>
            </a:r>
            <a:r>
              <a:rPr sz="1050">
                <a:solidFill>
                  <a:srgbClr val="1E293B"/>
                </a:solidFill>
              </a:rPr>
              <a:t>School-by-school diagnostics on internet, computers, and library assets.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• Page 4 (Teacher Dynamics): </a:t>
            </a:r>
            <a:r>
              <a:rPr sz="1050">
                <a:solidFill>
                  <a:srgbClr val="1E293B"/>
                </a:solidFill>
              </a:rPr>
              <a:t>State educator qualification mix and training status breakdown.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• Page 5 (Risk Matrix): </a:t>
            </a:r>
            <a:r>
              <a:rPr sz="1050">
                <a:solidFill>
                  <a:srgbClr val="1E293B"/>
                </a:solidFill>
              </a:rPr>
              <a:t>Actionable remedial intervention table filtered for attendance &lt;50% and score &lt;40.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188720"/>
            <a:ext cx="5257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257800" cy="548640"/>
          </a:xfrm>
          <a:prstGeom prst="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Operational Governance Protocols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74519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B192C"/>
                </a:solidFill>
              </a:rPr>
              <a:t>• Monthly Refresh Cadence: </a:t>
            </a:r>
            <a:r>
              <a:rPr sz="1050">
                <a:solidFill>
                  <a:srgbClr val="1E293B"/>
                </a:solidFill>
              </a:rPr>
              <a:t>Ingest updated monthly attendance and mid-term exam scores.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• Role-Based Access: </a:t>
            </a:r>
            <a:r>
              <a:rPr sz="1050">
                <a:solidFill>
                  <a:srgbClr val="1E293B"/>
                </a:solidFill>
              </a:rPr>
              <a:t>State Education Officers access state-specific filtered views.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• District Alert Triggers: </a:t>
            </a:r>
            <a:r>
              <a:rPr sz="1050">
                <a:solidFill>
                  <a:srgbClr val="1E293B"/>
                </a:solidFill>
              </a:rPr>
              <a:t>Automated alerts when school attendance falls below 60% threshold.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• Cross-Filtering Drill-Through: </a:t>
            </a:r>
            <a:r>
              <a:rPr sz="1050">
                <a:solidFill>
                  <a:srgbClr val="1E293B"/>
                </a:solidFill>
              </a:rPr>
              <a:t>Click any State in Page 1 to filter all downstream dimension pages.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solidFill>
              <a:srgbClr val="F4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BBF24"/>
                </a:solidFill>
                <a:latin typeface="Segoe UI"/>
              </a:defRPr>
            </a:pPr>
            <a: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12-Month Rollout Roadmap &amp; Strategic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320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FBBF24"/>
                </a:solidFill>
                <a:latin typeface="Segoe UI"/>
              </a:defRPr>
            </a:pPr>
            <a:r>
              <a:t>Slide 15 | Shubham Gadekar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4114800" cy="59436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Q1 (Months 1–3): Dashboard Deployment &amp; Infrastructure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280160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Deploy Power BI dashboard to all 28 State Education Directorates. Audit the 10,046 unserved schools and initiate fiber broadband procurement contracts.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286000"/>
            <a:ext cx="4114800" cy="59436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Q2 (Months 4–6): Nationwide In-Service Teacher Upskilling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Roll out modern mathematics pedagogical training targeting the 29,780 untrained teachers. Establish senior educator mentorship pairs.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246120"/>
            <a:ext cx="4114800" cy="59436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Q3 (Months 7–9): Attendance Early-Warning &amp; Remedial Clinics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00400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Launch automated SMS attendance tracking across secondary schools. Operationalize weekend remedial clinics for the 63.3K at-risk students.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7259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206240"/>
            <a:ext cx="4114800" cy="594360"/>
          </a:xfrm>
          <a:prstGeom prst="roundRect">
            <a:avLst/>
          </a:prstGeom>
          <a:solidFill>
            <a:srgbClr val="183059"/>
          </a:solidFill>
          <a:ln>
            <a:solidFill>
              <a:srgbClr val="183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Q4 (Months 10–12): Annual Impact Assessment &amp; Policy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160520"/>
            <a:ext cx="6172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Conduct end-of-year standardized evaluation. Re-benchmark state performance matrices and optimize resource allocation for the next academic cycle.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66360"/>
            <a:ext cx="10725912" cy="1234440"/>
          </a:xfrm>
          <a:prstGeom prst="rect">
            <a:avLst/>
          </a:prstGeom>
          <a:solidFill>
            <a:srgbClr val="0B192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57800"/>
            <a:ext cx="1026871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Strategic Conclusion &amp; Project Sign-Off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Transitioning to data-driven educational governance empowers the Ministry of Education to replace intuition with empirical precision. By addressing the 3 core pillars—Pedagogy, Infrastructure, and Attendance—national educational outcomes will achieve measurable, equitable gains.</a:t>
            </a:r>
            <a:br/>
            <a:r>
              <a:t>Report &amp; Presentation Prepared by: Shubham Gadekar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